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9144000" cx="5144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1582">
          <p15:clr>
            <a:srgbClr val="A4A3A4"/>
          </p15:clr>
        </p15:guide>
        <p15:guide id="3" orient="horz" pos="127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1582"/>
        <p:guide pos="1275"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464751" y="685800"/>
            <a:ext cx="19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464751" y="685800"/>
            <a:ext cx="1929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ed6bf4899e_0_1:notes"/>
          <p:cNvSpPr/>
          <p:nvPr>
            <p:ph idx="2" type="sldImg"/>
          </p:nvPr>
        </p:nvSpPr>
        <p:spPr>
          <a:xfrm>
            <a:off x="2464751" y="685800"/>
            <a:ext cx="1929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ed6bf4899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ed6bf48a74_0_12:notes"/>
          <p:cNvSpPr/>
          <p:nvPr>
            <p:ph idx="2" type="sldImg"/>
          </p:nvPr>
        </p:nvSpPr>
        <p:spPr>
          <a:xfrm>
            <a:off x="2464751" y="685800"/>
            <a:ext cx="1929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ed6bf48a7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ed6bf48a74_0_6:notes"/>
          <p:cNvSpPr/>
          <p:nvPr>
            <p:ph idx="2" type="sldImg"/>
          </p:nvPr>
        </p:nvSpPr>
        <p:spPr>
          <a:xfrm>
            <a:off x="2464751" y="685800"/>
            <a:ext cx="1929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ed6bf48a7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ed6bf4899e_0_10:notes"/>
          <p:cNvSpPr/>
          <p:nvPr>
            <p:ph idx="2" type="sldImg"/>
          </p:nvPr>
        </p:nvSpPr>
        <p:spPr>
          <a:xfrm>
            <a:off x="2464751" y="685800"/>
            <a:ext cx="1929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ed6bf4899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ed6bf48a74_0_17:notes"/>
          <p:cNvSpPr/>
          <p:nvPr>
            <p:ph idx="2" type="sldImg"/>
          </p:nvPr>
        </p:nvSpPr>
        <p:spPr>
          <a:xfrm>
            <a:off x="2464751" y="685800"/>
            <a:ext cx="1929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ed6bf48a7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2865b75ff720d706_1_5:notes"/>
          <p:cNvSpPr/>
          <p:nvPr>
            <p:ph idx="2" type="sldImg"/>
          </p:nvPr>
        </p:nvSpPr>
        <p:spPr>
          <a:xfrm>
            <a:off x="2464751" y="685800"/>
            <a:ext cx="1929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h2865b75ff720d70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75367" y="1323689"/>
            <a:ext cx="4793700" cy="36492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175362" y="5038444"/>
            <a:ext cx="4793700" cy="1409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75362" y="3823733"/>
            <a:ext cx="4793700" cy="1496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75362" y="791156"/>
            <a:ext cx="47937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175362" y="2048844"/>
            <a:ext cx="4793700" cy="60735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75362" y="791156"/>
            <a:ext cx="47937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175362" y="2048844"/>
            <a:ext cx="2250300" cy="607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2718701" y="2048844"/>
            <a:ext cx="2250300" cy="6073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75362" y="791156"/>
            <a:ext cx="4793700" cy="10182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75362" y="987733"/>
            <a:ext cx="1579800" cy="134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175362" y="2470400"/>
            <a:ext cx="1579800" cy="5652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275814" y="800267"/>
            <a:ext cx="3582600" cy="72726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2572200" y="-222"/>
            <a:ext cx="2572200" cy="9144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49370" y="2192311"/>
            <a:ext cx="2275800" cy="2635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149370" y="4983244"/>
            <a:ext cx="2275800" cy="2195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2778955" y="1287244"/>
            <a:ext cx="2158800" cy="6569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75362" y="7521022"/>
            <a:ext cx="3375000" cy="1075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75362" y="1966444"/>
            <a:ext cx="4793700" cy="34908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175362" y="5603956"/>
            <a:ext cx="4793700" cy="23124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4766591" y="8290163"/>
            <a:ext cx="308700" cy="699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75362" y="791156"/>
            <a:ext cx="4793700" cy="1018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75362" y="2048844"/>
            <a:ext cx="4793700" cy="60735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4766591" y="8290163"/>
            <a:ext cx="308700" cy="699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5.xml"/><Relationship Id="rId4" Type="http://schemas.openxmlformats.org/officeDocument/2006/relationships/slide" Target="/ppt/slides/slide4.xml"/><Relationship Id="rId5" Type="http://schemas.openxmlformats.org/officeDocument/2006/relationships/slide" Target="/ppt/slides/slide3.xml"/><Relationship Id="rId6" Type="http://schemas.openxmlformats.org/officeDocument/2006/relationships/slide" Target="/ppt/slides/slide6.xml"/><Relationship Id="rId7" Type="http://schemas.openxmlformats.org/officeDocument/2006/relationships/slide" Target="/ppt/slides/slide2.xml"/><Relationship Id="rId8" Type="http://schemas.openxmlformats.org/officeDocument/2006/relationships/slide" Target="/ppt/slid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miyu.fr/distribution/ete-96/" TargetMode="External"/><Relationship Id="rId4" Type="http://schemas.openxmlformats.org/officeDocument/2006/relationships/hyperlink" Target="http://beurk/" TargetMode="External"/><Relationship Id="rId9" Type="http://schemas.openxmlformats.org/officeDocument/2006/relationships/hyperlink" Target="https://www.miyu.fr/distribution/olivia-las-nubes/" TargetMode="External"/><Relationship Id="rId5" Type="http://schemas.openxmlformats.org/officeDocument/2006/relationships/hyperlink" Target="https://www.miyu.fr/distribution/27-2/" TargetMode="External"/><Relationship Id="rId6" Type="http://schemas.openxmlformats.org/officeDocument/2006/relationships/hyperlink" Target="https://www.miyu.fr/distribution/archipel/" TargetMode="External"/><Relationship Id="rId7" Type="http://schemas.openxmlformats.org/officeDocument/2006/relationships/hyperlink" Target="https://www.miyu.fr/distribution/dozens-of-norths/" TargetMode="External"/><Relationship Id="rId8" Type="http://schemas.openxmlformats.org/officeDocument/2006/relationships/hyperlink" Target="https://www.miyu.fr/distribution/la-grande-histoire-de-la-philosophie-occidental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21750" y="3339325"/>
            <a:ext cx="116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5" name="Google Shape;55;p13"/>
          <p:cNvSpPr txBox="1"/>
          <p:nvPr/>
        </p:nvSpPr>
        <p:spPr>
          <a:xfrm>
            <a:off x="365250" y="5022025"/>
            <a:ext cx="4448100" cy="2430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fr" sz="1100">
                <a:solidFill>
                  <a:srgbClr val="222222"/>
                </a:solidFill>
                <a:highlight>
                  <a:srgbClr val="FFFFFF"/>
                </a:highlight>
              </a:rPr>
              <a:t>Six courts métrages, six chansons, zéro bonne raison de ne pas y aller. Pour survivre aux fêtes, au froid, aux films de famille et à la famille elle-même, Miyu Distribution vous invite à passer le jour le plus court en chanson. Depuis l'espace, le futur ou un karaoké post-apocalyptique, "Sommes nous seules dans l'univers ?" vous promet au moins ça : sortir de là avec une chanson en tête.</a:t>
            </a:r>
            <a:endParaRPr sz="11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fr"/>
              <a:t>Trailer</a:t>
            </a:r>
            <a:endParaRPr/>
          </a:p>
          <a:p>
            <a:pPr indent="0" lvl="0" marL="0" rtl="0" algn="l">
              <a:spcBef>
                <a:spcPts val="0"/>
              </a:spcBef>
              <a:spcAft>
                <a:spcPts val="0"/>
              </a:spcAft>
              <a:buNone/>
            </a:pPr>
            <a:r>
              <a:t/>
            </a:r>
            <a:endParaRPr/>
          </a:p>
          <a:p>
            <a:pPr indent="0" lvl="0" marL="0" rtl="0" algn="l">
              <a:spcBef>
                <a:spcPts val="0"/>
              </a:spcBef>
              <a:spcAft>
                <a:spcPts val="0"/>
              </a:spcAft>
              <a:buNone/>
            </a:pPr>
            <a:r>
              <a:rPr lang="fr"/>
              <a:t>nombre de screening, partner, villes, </a:t>
            </a:r>
            <a:r>
              <a:rPr lang="fr"/>
              <a:t>karaoké mal chanté, cocktail bu (autre blague)</a:t>
            </a:r>
            <a:endParaRPr/>
          </a:p>
        </p:txBody>
      </p:sp>
      <p:sp>
        <p:nvSpPr>
          <p:cNvPr id="56" name="Google Shape;56;p13"/>
          <p:cNvSpPr txBox="1"/>
          <p:nvPr/>
        </p:nvSpPr>
        <p:spPr>
          <a:xfrm>
            <a:off x="3796550" y="3189675"/>
            <a:ext cx="966300" cy="353400"/>
          </a:xfrm>
          <a:prstGeom prst="rect">
            <a:avLst/>
          </a:prstGeom>
          <a:noFill/>
          <a:ln cap="flat" cmpd="sng" w="9525">
            <a:solidFill>
              <a:srgbClr val="111111"/>
            </a:solidFill>
            <a:prstDash val="solid"/>
            <a:round/>
            <a:headEnd len="sm" w="sm" type="none"/>
            <a:tailEnd len="sm" w="sm" type="none"/>
          </a:ln>
        </p:spPr>
        <p:txBody>
          <a:bodyPr anchorCtr="0" anchor="t" bIns="70450" lIns="70450" spcFirstLastPara="1" rIns="70450" wrap="square" tIns="70450">
            <a:spAutoFit/>
          </a:bodyPr>
          <a:lstStyle/>
          <a:p>
            <a:pPr indent="0" lvl="0" marL="0" rtl="0" algn="l">
              <a:spcBef>
                <a:spcPts val="0"/>
              </a:spcBef>
              <a:spcAft>
                <a:spcPts val="0"/>
              </a:spcAft>
              <a:buNone/>
            </a:pPr>
            <a:r>
              <a:rPr lang="fr" sz="1370" u="sng">
                <a:solidFill>
                  <a:schemeClr val="hlink"/>
                </a:solidFill>
                <a:hlinkClick action="ppaction://hlinksldjump" r:id="rId3"/>
              </a:rPr>
              <a:t>J’organise</a:t>
            </a:r>
            <a:endParaRPr sz="1370"/>
          </a:p>
        </p:txBody>
      </p:sp>
      <p:sp>
        <p:nvSpPr>
          <p:cNvPr id="57" name="Google Shape;57;p13"/>
          <p:cNvSpPr txBox="1"/>
          <p:nvPr/>
        </p:nvSpPr>
        <p:spPr>
          <a:xfrm>
            <a:off x="1743602" y="3188475"/>
            <a:ext cx="482400" cy="249000"/>
          </a:xfrm>
          <a:prstGeom prst="rect">
            <a:avLst/>
          </a:prstGeom>
          <a:noFill/>
          <a:ln cap="flat" cmpd="sng" w="9525">
            <a:solidFill>
              <a:schemeClr val="dk1"/>
            </a:solidFill>
            <a:prstDash val="solid"/>
            <a:round/>
            <a:headEnd len="sm" w="sm" type="none"/>
            <a:tailEnd len="sm" w="sm" type="none"/>
          </a:ln>
        </p:spPr>
        <p:txBody>
          <a:bodyPr anchorCtr="0" anchor="t" bIns="70450" lIns="70450" spcFirstLastPara="1" rIns="70450" wrap="square" tIns="70450">
            <a:spAutoFit/>
          </a:bodyPr>
          <a:lstStyle/>
          <a:p>
            <a:pPr indent="0" lvl="0" marL="0" rtl="0" algn="l">
              <a:spcBef>
                <a:spcPts val="0"/>
              </a:spcBef>
              <a:spcAft>
                <a:spcPts val="0"/>
              </a:spcAft>
              <a:buNone/>
            </a:pPr>
            <a:r>
              <a:rPr lang="fr" sz="693" u="sng">
                <a:solidFill>
                  <a:schemeClr val="hlink"/>
                </a:solidFill>
                <a:hlinkClick action="ppaction://hlinksldjump" r:id="rId4"/>
              </a:rPr>
              <a:t>presse</a:t>
            </a:r>
            <a:endParaRPr sz="693"/>
          </a:p>
        </p:txBody>
      </p:sp>
      <p:sp>
        <p:nvSpPr>
          <p:cNvPr id="58" name="Google Shape;58;p13"/>
          <p:cNvSpPr txBox="1"/>
          <p:nvPr/>
        </p:nvSpPr>
        <p:spPr>
          <a:xfrm>
            <a:off x="1039772" y="3188475"/>
            <a:ext cx="612900" cy="355800"/>
          </a:xfrm>
          <a:prstGeom prst="rect">
            <a:avLst/>
          </a:prstGeom>
          <a:noFill/>
          <a:ln cap="flat" cmpd="sng" w="9525">
            <a:solidFill>
              <a:srgbClr val="111111"/>
            </a:solidFill>
            <a:prstDash val="solid"/>
            <a:round/>
            <a:headEnd len="sm" w="sm" type="none"/>
            <a:tailEnd len="sm" w="sm" type="none"/>
          </a:ln>
        </p:spPr>
        <p:txBody>
          <a:bodyPr anchorCtr="0" anchor="t" bIns="70450" lIns="70450" spcFirstLastPara="1" rIns="70450" wrap="square" tIns="70450">
            <a:spAutoFit/>
          </a:bodyPr>
          <a:lstStyle/>
          <a:p>
            <a:pPr indent="0" lvl="0" marL="0" rtl="0" algn="l">
              <a:spcBef>
                <a:spcPts val="0"/>
              </a:spcBef>
              <a:spcAft>
                <a:spcPts val="0"/>
              </a:spcAft>
              <a:buNone/>
            </a:pPr>
            <a:r>
              <a:rPr lang="fr" sz="693" u="sng">
                <a:solidFill>
                  <a:schemeClr val="hlink"/>
                </a:solidFill>
                <a:hlinkClick action="ppaction://hlinksldjump" r:id="rId5"/>
              </a:rPr>
              <a:t>trouver une seance</a:t>
            </a:r>
            <a:endParaRPr sz="693"/>
          </a:p>
        </p:txBody>
      </p:sp>
      <p:sp>
        <p:nvSpPr>
          <p:cNvPr id="59" name="Google Shape;59;p13"/>
          <p:cNvSpPr txBox="1"/>
          <p:nvPr/>
        </p:nvSpPr>
        <p:spPr>
          <a:xfrm>
            <a:off x="4206345" y="8572167"/>
            <a:ext cx="556500" cy="249000"/>
          </a:xfrm>
          <a:prstGeom prst="rect">
            <a:avLst/>
          </a:prstGeom>
          <a:noFill/>
          <a:ln cap="flat" cmpd="sng" w="9525">
            <a:solidFill>
              <a:schemeClr val="dk1"/>
            </a:solidFill>
            <a:prstDash val="solid"/>
            <a:round/>
            <a:headEnd len="sm" w="sm" type="none"/>
            <a:tailEnd len="sm" w="sm" type="none"/>
          </a:ln>
        </p:spPr>
        <p:txBody>
          <a:bodyPr anchorCtr="0" anchor="t" bIns="70450" lIns="70450" spcFirstLastPara="1" rIns="70450" wrap="square" tIns="70450">
            <a:spAutoFit/>
          </a:bodyPr>
          <a:lstStyle/>
          <a:p>
            <a:pPr indent="0" lvl="0" marL="0" rtl="0" algn="l">
              <a:spcBef>
                <a:spcPts val="0"/>
              </a:spcBef>
              <a:spcAft>
                <a:spcPts val="0"/>
              </a:spcAft>
              <a:buNone/>
            </a:pPr>
            <a:r>
              <a:rPr lang="fr" sz="693" u="sng">
                <a:solidFill>
                  <a:schemeClr val="hlink"/>
                </a:solidFill>
                <a:hlinkClick action="ppaction://hlinksldjump" r:id="rId6"/>
              </a:rPr>
              <a:t>Contacts</a:t>
            </a:r>
            <a:endParaRPr sz="693"/>
          </a:p>
        </p:txBody>
      </p:sp>
      <p:sp>
        <p:nvSpPr>
          <p:cNvPr id="60" name="Google Shape;60;p13"/>
          <p:cNvSpPr txBox="1"/>
          <p:nvPr/>
        </p:nvSpPr>
        <p:spPr>
          <a:xfrm>
            <a:off x="304009" y="3188475"/>
            <a:ext cx="612900" cy="355800"/>
          </a:xfrm>
          <a:prstGeom prst="rect">
            <a:avLst/>
          </a:prstGeom>
          <a:noFill/>
          <a:ln cap="flat" cmpd="sng" w="9525">
            <a:solidFill>
              <a:srgbClr val="111111"/>
            </a:solidFill>
            <a:prstDash val="solid"/>
            <a:round/>
            <a:headEnd len="sm" w="sm" type="none"/>
            <a:tailEnd len="sm" w="sm" type="none"/>
          </a:ln>
        </p:spPr>
        <p:txBody>
          <a:bodyPr anchorCtr="0" anchor="t" bIns="70450" lIns="70450" spcFirstLastPara="1" rIns="70450" wrap="square" tIns="70450">
            <a:spAutoFit/>
          </a:bodyPr>
          <a:lstStyle/>
          <a:p>
            <a:pPr indent="0" lvl="0" marL="0" rtl="0" algn="l">
              <a:spcBef>
                <a:spcPts val="0"/>
              </a:spcBef>
              <a:spcAft>
                <a:spcPts val="0"/>
              </a:spcAft>
              <a:buNone/>
            </a:pPr>
            <a:r>
              <a:rPr lang="fr" sz="693"/>
              <a:t>l</a:t>
            </a:r>
            <a:r>
              <a:rPr lang="fr" sz="693" u="sng">
                <a:solidFill>
                  <a:schemeClr val="hlink"/>
                </a:solidFill>
                <a:hlinkClick action="ppaction://hlinksldjump" r:id="rId7"/>
              </a:rPr>
              <a:t>e programme</a:t>
            </a:r>
            <a:endParaRPr sz="693"/>
          </a:p>
        </p:txBody>
      </p:sp>
      <p:sp>
        <p:nvSpPr>
          <p:cNvPr id="61" name="Google Shape;61;p13"/>
          <p:cNvSpPr/>
          <p:nvPr/>
        </p:nvSpPr>
        <p:spPr>
          <a:xfrm>
            <a:off x="208350" y="379750"/>
            <a:ext cx="4605000" cy="262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txBox="1"/>
          <p:nvPr/>
        </p:nvSpPr>
        <p:spPr>
          <a:xfrm>
            <a:off x="490625" y="752750"/>
            <a:ext cx="3951900" cy="177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4100">
                <a:solidFill>
                  <a:schemeClr val="dk2"/>
                </a:solidFill>
              </a:rPr>
              <a:t>Somme-Nous Seuls Dans L’Univers</a:t>
            </a:r>
            <a:endParaRPr sz="4100">
              <a:solidFill>
                <a:schemeClr val="dk2"/>
              </a:solidFill>
            </a:endParaRPr>
          </a:p>
        </p:txBody>
      </p:sp>
      <p:sp>
        <p:nvSpPr>
          <p:cNvPr id="63" name="Google Shape;63;p13"/>
          <p:cNvSpPr txBox="1"/>
          <p:nvPr/>
        </p:nvSpPr>
        <p:spPr>
          <a:xfrm>
            <a:off x="2320475" y="3188475"/>
            <a:ext cx="816300" cy="355800"/>
          </a:xfrm>
          <a:prstGeom prst="rect">
            <a:avLst/>
          </a:prstGeom>
          <a:noFill/>
          <a:ln cap="flat" cmpd="sng" w="9525">
            <a:solidFill>
              <a:schemeClr val="dk1"/>
            </a:solidFill>
            <a:prstDash val="solid"/>
            <a:round/>
            <a:headEnd len="sm" w="sm" type="none"/>
            <a:tailEnd len="sm" w="sm" type="none"/>
          </a:ln>
        </p:spPr>
        <p:txBody>
          <a:bodyPr anchorCtr="0" anchor="t" bIns="70450" lIns="70450" spcFirstLastPara="1" rIns="70450" wrap="square" tIns="70450">
            <a:spAutoFit/>
          </a:bodyPr>
          <a:lstStyle/>
          <a:p>
            <a:pPr indent="0" lvl="0" marL="0" rtl="0" algn="l">
              <a:spcBef>
                <a:spcPts val="0"/>
              </a:spcBef>
              <a:spcAft>
                <a:spcPts val="0"/>
              </a:spcAft>
              <a:buNone/>
            </a:pPr>
            <a:r>
              <a:rPr lang="fr" sz="693" u="sng">
                <a:solidFill>
                  <a:schemeClr val="hlink"/>
                </a:solidFill>
                <a:hlinkClick action="ppaction://hlinksldjump" r:id="rId8"/>
              </a:rPr>
              <a:t>Qui sommes nous?</a:t>
            </a:r>
            <a:endParaRPr sz="693"/>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175362" y="791156"/>
            <a:ext cx="4793700" cy="1018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fr"/>
              <a:t>Le Programmes</a:t>
            </a:r>
            <a:endParaRPr/>
          </a:p>
        </p:txBody>
      </p:sp>
      <p:sp>
        <p:nvSpPr>
          <p:cNvPr id="69" name="Google Shape;69;p14"/>
          <p:cNvSpPr txBox="1"/>
          <p:nvPr>
            <p:ph idx="1" type="body"/>
          </p:nvPr>
        </p:nvSpPr>
        <p:spPr>
          <a:xfrm>
            <a:off x="175362" y="2024394"/>
            <a:ext cx="4793700" cy="6073500"/>
          </a:xfrm>
          <a:prstGeom prst="rect">
            <a:avLst/>
          </a:prstGeom>
        </p:spPr>
        <p:txBody>
          <a:bodyPr anchorCtr="0" anchor="t" bIns="91425" lIns="91425" spcFirstLastPara="1" rIns="91425" wrap="square" tIns="91425">
            <a:normAutofit/>
          </a:bodyPr>
          <a:lstStyle/>
          <a:p>
            <a:pPr indent="0" lvl="0" marL="0" rtl="0" algn="l">
              <a:lnSpc>
                <a:spcPct val="100000"/>
              </a:lnSpc>
              <a:spcBef>
                <a:spcPts val="2400"/>
              </a:spcBef>
              <a:spcAft>
                <a:spcPts val="0"/>
              </a:spcAft>
              <a:buNone/>
            </a:pPr>
            <a:r>
              <a:rPr b="1" lang="fr" sz="1000">
                <a:solidFill>
                  <a:srgbClr val="111111"/>
                </a:solidFill>
                <a:highlight>
                  <a:srgbClr val="FFFFFF"/>
                </a:highlight>
              </a:rPr>
              <a:t>Infos techniques (FR+EN)</a:t>
            </a:r>
            <a:endParaRPr b="1" sz="1000">
              <a:solidFill>
                <a:srgbClr val="111111"/>
              </a:solidFill>
              <a:highlight>
                <a:srgbClr val="FFFFFF"/>
              </a:highlight>
            </a:endParaRPr>
          </a:p>
          <a:p>
            <a:pPr indent="0" lvl="0" marL="0" rtl="0" algn="l">
              <a:lnSpc>
                <a:spcPct val="100000"/>
              </a:lnSpc>
              <a:spcBef>
                <a:spcPts val="2400"/>
              </a:spcBef>
              <a:spcAft>
                <a:spcPts val="0"/>
              </a:spcAft>
              <a:buNone/>
            </a:pPr>
            <a:r>
              <a:rPr b="1" lang="fr" sz="1000">
                <a:solidFill>
                  <a:srgbClr val="111111"/>
                </a:solidFill>
                <a:highlight>
                  <a:srgbClr val="FFFFFF"/>
                </a:highlight>
              </a:rPr>
              <a:t>Réalisateurs // Durée // Année // pays de prod // Dialogues // Sous titres // Format // Distributeur </a:t>
            </a:r>
            <a:endParaRPr b="1" sz="1000">
              <a:solidFill>
                <a:srgbClr val="111111"/>
              </a:solidFill>
              <a:highlight>
                <a:srgbClr val="FFFFFF"/>
              </a:highlight>
            </a:endParaRPr>
          </a:p>
          <a:p>
            <a:pPr indent="0" lvl="0" marL="0" rtl="0" algn="l">
              <a:lnSpc>
                <a:spcPct val="100000"/>
              </a:lnSpc>
              <a:spcBef>
                <a:spcPts val="2400"/>
              </a:spcBef>
              <a:spcAft>
                <a:spcPts val="0"/>
              </a:spcAft>
              <a:buNone/>
            </a:pPr>
            <a:r>
              <a:rPr b="1" lang="fr" sz="1000">
                <a:solidFill>
                  <a:srgbClr val="111111"/>
                </a:solidFill>
                <a:highlight>
                  <a:srgbClr val="FFFFFF"/>
                </a:highlight>
              </a:rPr>
              <a:t>Synopsis</a:t>
            </a:r>
            <a:endParaRPr b="1" sz="1000">
              <a:solidFill>
                <a:srgbClr val="111111"/>
              </a:solidFill>
              <a:highlight>
                <a:srgbClr val="FFFFFF"/>
              </a:highlight>
            </a:endParaRPr>
          </a:p>
          <a:p>
            <a:pPr indent="0" lvl="0" marL="0" rtl="0" algn="l">
              <a:lnSpc>
                <a:spcPct val="100000"/>
              </a:lnSpc>
              <a:spcBef>
                <a:spcPts val="2400"/>
              </a:spcBef>
              <a:spcAft>
                <a:spcPts val="0"/>
              </a:spcAft>
              <a:buNone/>
            </a:pPr>
            <a:r>
              <a:rPr b="1" lang="fr" sz="1000">
                <a:solidFill>
                  <a:srgbClr val="111111"/>
                </a:solidFill>
                <a:highlight>
                  <a:srgbClr val="FFFFFF"/>
                </a:highlight>
              </a:rPr>
              <a:t>Composition détaillée du programme</a:t>
            </a:r>
            <a:endParaRPr b="1" sz="1000">
              <a:solidFill>
                <a:srgbClr val="111111"/>
              </a:solidFill>
              <a:highlight>
                <a:srgbClr val="FFFFFF"/>
              </a:highlight>
            </a:endParaRPr>
          </a:p>
          <a:p>
            <a:pPr indent="0" lvl="0" marL="0" rtl="0" algn="l">
              <a:lnSpc>
                <a:spcPct val="100000"/>
              </a:lnSpc>
              <a:spcBef>
                <a:spcPts val="2400"/>
              </a:spcBef>
              <a:spcAft>
                <a:spcPts val="0"/>
              </a:spcAft>
              <a:buNone/>
            </a:pPr>
            <a:r>
              <a:rPr b="1" lang="fr" sz="1000">
                <a:solidFill>
                  <a:srgbClr val="111111"/>
                </a:solidFill>
                <a:highlight>
                  <a:srgbClr val="FFFFFF"/>
                </a:highlight>
              </a:rPr>
              <a:t>Quelques images</a:t>
            </a:r>
            <a:endParaRPr b="1" sz="1000">
              <a:solidFill>
                <a:srgbClr val="111111"/>
              </a:solidFill>
              <a:highlight>
                <a:srgbClr val="FFFFFF"/>
              </a:highlight>
            </a:endParaRPr>
          </a:p>
          <a:p>
            <a:pPr indent="0" lvl="0" marL="0" rtl="0" algn="l">
              <a:lnSpc>
                <a:spcPct val="100000"/>
              </a:lnSpc>
              <a:spcBef>
                <a:spcPts val="2400"/>
              </a:spcBef>
              <a:spcAft>
                <a:spcPts val="0"/>
              </a:spcAft>
              <a:buClr>
                <a:schemeClr val="dk1"/>
              </a:buClr>
              <a:buSzPts val="1100"/>
              <a:buFont typeface="Arial"/>
              <a:buNone/>
            </a:pPr>
            <a:r>
              <a:t/>
            </a:r>
            <a:endParaRPr b="1" sz="1000">
              <a:solidFill>
                <a:srgbClr val="111111"/>
              </a:solidFill>
              <a:highlight>
                <a:srgbClr val="FFFFFF"/>
              </a:highlight>
            </a:endParaRPr>
          </a:p>
          <a:p>
            <a:pPr indent="0" lvl="0" marL="0" rtl="0" algn="l">
              <a:spcBef>
                <a:spcPts val="24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175362" y="791156"/>
            <a:ext cx="4793700" cy="101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Où voir le programme</a:t>
            </a:r>
            <a:endParaRPr/>
          </a:p>
        </p:txBody>
      </p:sp>
      <p:sp>
        <p:nvSpPr>
          <p:cNvPr id="75" name="Google Shape;75;p15"/>
          <p:cNvSpPr txBox="1"/>
          <p:nvPr>
            <p:ph idx="1" type="body"/>
          </p:nvPr>
        </p:nvSpPr>
        <p:spPr>
          <a:xfrm>
            <a:off x="175362" y="2023644"/>
            <a:ext cx="4793700" cy="607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1100">
                <a:solidFill>
                  <a:schemeClr val="dk1"/>
                </a:solidFill>
              </a:rPr>
              <a:t>Map interactive de France avec l</a:t>
            </a:r>
            <a:r>
              <a:rPr lang="fr" sz="1100">
                <a:solidFill>
                  <a:schemeClr val="dk1"/>
                </a:solidFill>
              </a:rPr>
              <a:t>iste des salles + temps </a:t>
            </a:r>
            <a:endParaRPr sz="1100">
              <a:solidFill>
                <a:schemeClr val="dk1"/>
              </a:solidFill>
            </a:endParaRPr>
          </a:p>
          <a:p>
            <a:pPr indent="0" lvl="0" marL="0" rtl="0" algn="l">
              <a:spcBef>
                <a:spcPts val="1200"/>
              </a:spcBef>
              <a:spcAft>
                <a:spcPts val="1200"/>
              </a:spcAft>
              <a:buNone/>
            </a:pPr>
            <a:r>
              <a:rPr lang="fr" sz="1100">
                <a:solidFill>
                  <a:schemeClr val="dk1"/>
                </a:solidFill>
              </a:rPr>
              <a:t>avec </a:t>
            </a:r>
            <a:r>
              <a:rPr lang="fr" sz="1100">
                <a:solidFill>
                  <a:schemeClr val="dk1"/>
                </a:solidFill>
              </a:rPr>
              <a:t>détail</a:t>
            </a:r>
            <a:r>
              <a:rPr lang="fr" sz="1100">
                <a:solidFill>
                  <a:schemeClr val="dk1"/>
                </a:solidFill>
              </a:rPr>
              <a:t> </a:t>
            </a:r>
            <a:r>
              <a:rPr lang="fr" sz="1100">
                <a:solidFill>
                  <a:schemeClr val="dk1"/>
                </a:solidFill>
              </a:rPr>
              <a:t>d'accessibilité</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175362" y="791156"/>
            <a:ext cx="4793700" cy="1018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fr"/>
              <a:t>REVUE DE PRESSE</a:t>
            </a:r>
            <a:endParaRPr/>
          </a:p>
        </p:txBody>
      </p:sp>
      <p:sp>
        <p:nvSpPr>
          <p:cNvPr id="81" name="Google Shape;81;p16"/>
          <p:cNvSpPr txBox="1"/>
          <p:nvPr>
            <p:ph idx="1" type="body"/>
          </p:nvPr>
        </p:nvSpPr>
        <p:spPr>
          <a:xfrm>
            <a:off x="175362" y="2048844"/>
            <a:ext cx="4793700" cy="607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sz="1000">
                <a:solidFill>
                  <a:schemeClr val="dk1"/>
                </a:solidFill>
              </a:rPr>
              <a:t>Mettre les articles papier</a:t>
            </a:r>
            <a:endParaRPr b="1" sz="1000">
              <a:solidFill>
                <a:schemeClr val="dk1"/>
              </a:solidFill>
            </a:endParaRPr>
          </a:p>
          <a:p>
            <a:pPr indent="0" lvl="0" marL="0" rtl="0" algn="l">
              <a:spcBef>
                <a:spcPts val="1200"/>
              </a:spcBef>
              <a:spcAft>
                <a:spcPts val="0"/>
              </a:spcAft>
              <a:buNone/>
            </a:pPr>
            <a:r>
              <a:rPr b="1" lang="fr" sz="1000">
                <a:solidFill>
                  <a:schemeClr val="dk1"/>
                </a:solidFill>
              </a:rPr>
              <a:t>Mettre les liens des articles sur le net</a:t>
            </a:r>
            <a:endParaRPr b="1" sz="1000">
              <a:solidFill>
                <a:schemeClr val="dk1"/>
              </a:solidFill>
            </a:endParaRPr>
          </a:p>
          <a:p>
            <a:pPr indent="0" lvl="0" marL="0" rtl="0" algn="l">
              <a:spcBef>
                <a:spcPts val="1200"/>
              </a:spcBef>
              <a:spcAft>
                <a:spcPts val="0"/>
              </a:spcAft>
              <a:buNone/>
            </a:pPr>
            <a:r>
              <a:t/>
            </a:r>
            <a:endParaRPr b="1" sz="1000">
              <a:solidFill>
                <a:schemeClr val="dk1"/>
              </a:solidFill>
            </a:endParaRPr>
          </a:p>
          <a:p>
            <a:pPr indent="-292100" lvl="0" marL="457200" rtl="0" algn="l">
              <a:spcBef>
                <a:spcPts val="1200"/>
              </a:spcBef>
              <a:spcAft>
                <a:spcPts val="0"/>
              </a:spcAft>
              <a:buClr>
                <a:schemeClr val="dk1"/>
              </a:buClr>
              <a:buSzPts val="1000"/>
              <a:buChar char="+"/>
            </a:pPr>
            <a:r>
              <a:rPr b="1" lang="fr" sz="1000">
                <a:solidFill>
                  <a:schemeClr val="dk1"/>
                </a:solidFill>
              </a:rPr>
              <a:t>lien pour télécharger la revue de presse en PDF</a:t>
            </a:r>
            <a:endParaRPr b="1" sz="1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175362" y="791156"/>
            <a:ext cx="4793700" cy="10182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fr"/>
              <a:t>J’organise</a:t>
            </a:r>
            <a:endParaRPr/>
          </a:p>
        </p:txBody>
      </p:sp>
      <p:sp>
        <p:nvSpPr>
          <p:cNvPr id="87" name="Google Shape;87;p17"/>
          <p:cNvSpPr txBox="1"/>
          <p:nvPr>
            <p:ph idx="1" type="body"/>
          </p:nvPr>
        </p:nvSpPr>
        <p:spPr>
          <a:xfrm>
            <a:off x="175362" y="2048844"/>
            <a:ext cx="4793700" cy="607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fr" sz="1000">
                <a:solidFill>
                  <a:srgbClr val="111111"/>
                </a:solidFill>
                <a:highlight>
                  <a:srgbClr val="FFFFFF"/>
                </a:highlight>
              </a:rPr>
              <a:t>Tuto organiser une projection</a:t>
            </a:r>
            <a:endParaRPr b="1" sz="1000">
              <a:solidFill>
                <a:srgbClr val="111111"/>
              </a:solidFill>
              <a:highlight>
                <a:srgbClr val="FFFFFF"/>
              </a:highlight>
            </a:endParaRPr>
          </a:p>
          <a:p>
            <a:pPr indent="-292100" lvl="0" marL="457200" rtl="0" algn="l">
              <a:spcBef>
                <a:spcPts val="1200"/>
              </a:spcBef>
              <a:spcAft>
                <a:spcPts val="0"/>
              </a:spcAft>
              <a:buClr>
                <a:srgbClr val="111111"/>
              </a:buClr>
              <a:buSzPts val="1000"/>
              <a:buChar char="-"/>
            </a:pPr>
            <a:r>
              <a:rPr b="1" lang="fr" sz="1000">
                <a:solidFill>
                  <a:srgbClr val="111111"/>
                </a:solidFill>
                <a:highlight>
                  <a:srgbClr val="FFFFFF"/>
                </a:highlight>
              </a:rPr>
              <a:t>cine</a:t>
            </a:r>
            <a:endParaRPr b="1" sz="1000">
              <a:solidFill>
                <a:srgbClr val="111111"/>
              </a:solidFill>
              <a:highlight>
                <a:srgbClr val="FFFFFF"/>
              </a:highlight>
            </a:endParaRPr>
          </a:p>
          <a:p>
            <a:pPr indent="-292100" lvl="0" marL="457200" rtl="0" algn="l">
              <a:spcBef>
                <a:spcPts val="0"/>
              </a:spcBef>
              <a:spcAft>
                <a:spcPts val="0"/>
              </a:spcAft>
              <a:buClr>
                <a:srgbClr val="111111"/>
              </a:buClr>
              <a:buSzPts val="1000"/>
              <a:buChar char="-"/>
            </a:pPr>
            <a:r>
              <a:rPr b="1" lang="fr" sz="1000">
                <a:solidFill>
                  <a:srgbClr val="111111"/>
                </a:solidFill>
                <a:highlight>
                  <a:srgbClr val="FFFFFF"/>
                </a:highlight>
              </a:rPr>
              <a:t>organisation </a:t>
            </a:r>
            <a:endParaRPr b="1" sz="1000">
              <a:solidFill>
                <a:srgbClr val="111111"/>
              </a:solidFill>
              <a:highlight>
                <a:srgbClr val="FFFFFF"/>
              </a:highlight>
            </a:endParaRPr>
          </a:p>
          <a:p>
            <a:pPr indent="0" lvl="0" marL="0" rtl="0" algn="l">
              <a:spcBef>
                <a:spcPts val="1200"/>
              </a:spcBef>
              <a:spcAft>
                <a:spcPts val="0"/>
              </a:spcAft>
              <a:buClr>
                <a:schemeClr val="dk1"/>
              </a:buClr>
              <a:buSzPts val="1100"/>
              <a:buFont typeface="Arial"/>
              <a:buNone/>
            </a:pPr>
            <a:r>
              <a:rPr b="1" lang="fr" sz="1000">
                <a:solidFill>
                  <a:srgbClr val="111111"/>
                </a:solidFill>
                <a:highlight>
                  <a:srgbClr val="FFFFFF"/>
                </a:highlight>
              </a:rPr>
              <a:t>Download the Presskit (dossier de presse)</a:t>
            </a:r>
            <a:endParaRPr b="1" sz="1000">
              <a:solidFill>
                <a:srgbClr val="111111"/>
              </a:solidFill>
              <a:highlight>
                <a:srgbClr val="FFFFFF"/>
              </a:highlight>
            </a:endParaRPr>
          </a:p>
          <a:p>
            <a:pPr indent="0" lvl="0" marL="0" rtl="0" algn="l">
              <a:spcBef>
                <a:spcPts val="1200"/>
              </a:spcBef>
              <a:spcAft>
                <a:spcPts val="0"/>
              </a:spcAft>
              <a:buClr>
                <a:schemeClr val="dk1"/>
              </a:buClr>
              <a:buSzPts val="1100"/>
              <a:buFont typeface="Arial"/>
              <a:buNone/>
            </a:pPr>
            <a:r>
              <a:rPr b="1" lang="fr" sz="1000">
                <a:solidFill>
                  <a:srgbClr val="111111"/>
                </a:solidFill>
                <a:highlight>
                  <a:srgbClr val="FFFFFF"/>
                </a:highlight>
              </a:rPr>
              <a:t>Download communication material (affiche etc…)</a:t>
            </a:r>
            <a:endParaRPr b="1" sz="1000" u="sng">
              <a:solidFill>
                <a:srgbClr val="23883D"/>
              </a:solidFill>
              <a:highlight>
                <a:srgbClr val="FFFFFF"/>
              </a:highlight>
            </a:endParaRPr>
          </a:p>
          <a:p>
            <a:pPr indent="0" lvl="0" marL="0" rtl="0" algn="l">
              <a:spcBef>
                <a:spcPts val="1200"/>
              </a:spcBef>
              <a:spcAft>
                <a:spcPts val="0"/>
              </a:spcAft>
              <a:buClr>
                <a:schemeClr val="dk1"/>
              </a:buClr>
              <a:buSzPts val="1100"/>
              <a:buFont typeface="Arial"/>
              <a:buNone/>
            </a:pPr>
            <a:r>
              <a:rPr b="1" lang="fr" sz="1000">
                <a:solidFill>
                  <a:srgbClr val="111111"/>
                </a:solidFill>
                <a:highlight>
                  <a:srgbClr val="FFFFFF"/>
                </a:highlight>
              </a:rPr>
              <a:t>Download the HD trailer </a:t>
            </a:r>
            <a:endParaRPr b="1" sz="1000" u="sng">
              <a:solidFill>
                <a:srgbClr val="23883D"/>
              </a:solidFill>
              <a:highlight>
                <a:srgbClr val="FFFFFF"/>
              </a:highlight>
            </a:endParaRPr>
          </a:p>
          <a:p>
            <a:pPr indent="0" lvl="0" marL="0" rtl="0" algn="l">
              <a:spcBef>
                <a:spcPts val="1200"/>
              </a:spcBef>
              <a:spcAft>
                <a:spcPts val="0"/>
              </a:spcAft>
              <a:buNone/>
            </a:pPr>
            <a:r>
              <a:rPr b="1" lang="fr" sz="1000">
                <a:solidFill>
                  <a:srgbClr val="111111"/>
                </a:solidFill>
                <a:highlight>
                  <a:srgbClr val="FFFFFF"/>
                </a:highlight>
              </a:rPr>
              <a:t>Download the DCP trailer</a:t>
            </a:r>
            <a:endParaRPr b="1" sz="1000">
              <a:solidFill>
                <a:srgbClr val="111111"/>
              </a:solidFill>
              <a:highlight>
                <a:srgbClr val="FFFFFF"/>
              </a:highlight>
            </a:endParaRPr>
          </a:p>
          <a:p>
            <a:pPr indent="0" lvl="0" marL="0" rtl="0" algn="l">
              <a:spcBef>
                <a:spcPts val="1200"/>
              </a:spcBef>
              <a:spcAft>
                <a:spcPts val="0"/>
              </a:spcAft>
              <a:buNone/>
            </a:pPr>
            <a:r>
              <a:rPr b="1" lang="fr" sz="1000">
                <a:solidFill>
                  <a:srgbClr val="111111"/>
                </a:solidFill>
                <a:highlight>
                  <a:srgbClr val="FFFFFF"/>
                </a:highlight>
              </a:rPr>
              <a:t>Ask for a link to watch the program ou pour avoir des affiches et du matériel de communication: mail du contact…</a:t>
            </a:r>
            <a:endParaRPr b="1" sz="1000">
              <a:solidFill>
                <a:srgbClr val="111111"/>
              </a:solidFill>
              <a:highlight>
                <a:srgbClr val="FFFFFF"/>
              </a:highlight>
            </a:endParaRPr>
          </a:p>
          <a:p>
            <a:pPr indent="0" lvl="0" marL="0" rtl="0" algn="l">
              <a:spcBef>
                <a:spcPts val="1200"/>
              </a:spcBef>
              <a:spcAft>
                <a:spcPts val="0"/>
              </a:spcAft>
              <a:buNone/>
            </a:pPr>
            <a:r>
              <a:rPr b="1" lang="fr" sz="1000">
                <a:solidFill>
                  <a:srgbClr val="111111"/>
                </a:solidFill>
                <a:highlight>
                  <a:srgbClr val="FFFFFF"/>
                </a:highlight>
              </a:rPr>
              <a:t>Fiche Atelier (pour avant et apres le programme)</a:t>
            </a:r>
            <a:endParaRPr b="1" sz="1000">
              <a:solidFill>
                <a:srgbClr val="111111"/>
              </a:solidFill>
              <a:highlight>
                <a:srgbClr val="FFFFFF"/>
              </a:highlight>
            </a:endParaRPr>
          </a:p>
          <a:p>
            <a:pPr indent="-292100" lvl="0" marL="457200" rtl="0" algn="l">
              <a:spcBef>
                <a:spcPts val="1200"/>
              </a:spcBef>
              <a:spcAft>
                <a:spcPts val="0"/>
              </a:spcAft>
              <a:buClr>
                <a:srgbClr val="111111"/>
              </a:buClr>
              <a:buSzPts val="1000"/>
              <a:buChar char="-"/>
            </a:pPr>
            <a:r>
              <a:rPr b="1" lang="fr" sz="1000">
                <a:solidFill>
                  <a:srgbClr val="111111"/>
                </a:solidFill>
                <a:highlight>
                  <a:srgbClr val="FFFFFF"/>
                </a:highlight>
              </a:rPr>
              <a:t>question pour conversations</a:t>
            </a:r>
            <a:endParaRPr b="1" sz="1000">
              <a:solidFill>
                <a:srgbClr val="111111"/>
              </a:solidFill>
              <a:highlight>
                <a:srgbClr val="FFFFFF"/>
              </a:highlight>
            </a:endParaRPr>
          </a:p>
          <a:p>
            <a:pPr indent="-292100" lvl="0" marL="457200" rtl="0" algn="l">
              <a:spcBef>
                <a:spcPts val="0"/>
              </a:spcBef>
              <a:spcAft>
                <a:spcPts val="0"/>
              </a:spcAft>
              <a:buClr>
                <a:srgbClr val="111111"/>
              </a:buClr>
              <a:buSzPts val="1000"/>
              <a:buChar char="-"/>
            </a:pPr>
            <a:r>
              <a:rPr b="1" lang="fr" sz="1000">
                <a:solidFill>
                  <a:srgbClr val="111111"/>
                </a:solidFill>
                <a:highlight>
                  <a:srgbClr val="FFFFFF"/>
                </a:highlight>
              </a:rPr>
              <a:t>atelier de dessin</a:t>
            </a:r>
            <a:endParaRPr b="1" sz="1000">
              <a:solidFill>
                <a:srgbClr val="111111"/>
              </a:solidFill>
              <a:highlight>
                <a:srgbClr val="FFFFFF"/>
              </a:highlight>
            </a:endParaRPr>
          </a:p>
          <a:p>
            <a:pPr indent="-292100" lvl="0" marL="457200" rtl="0" algn="l">
              <a:spcBef>
                <a:spcPts val="0"/>
              </a:spcBef>
              <a:spcAft>
                <a:spcPts val="0"/>
              </a:spcAft>
              <a:buClr>
                <a:srgbClr val="111111"/>
              </a:buClr>
              <a:buSzPts val="1000"/>
              <a:buChar char="-"/>
            </a:pPr>
            <a:r>
              <a:rPr b="1" lang="fr" sz="1000">
                <a:solidFill>
                  <a:srgbClr val="111111"/>
                </a:solidFill>
                <a:highlight>
                  <a:srgbClr val="FFFFFF"/>
                </a:highlight>
              </a:rPr>
              <a:t>recettes de cocktails avec theme</a:t>
            </a:r>
            <a:endParaRPr b="1" sz="1000">
              <a:solidFill>
                <a:srgbClr val="111111"/>
              </a:solidFill>
              <a:highlight>
                <a:srgbClr val="FFFFFF"/>
              </a:highlight>
            </a:endParaRPr>
          </a:p>
          <a:p>
            <a:pPr indent="0" lvl="0" marL="0" rtl="0" algn="l">
              <a:spcBef>
                <a:spcPts val="1200"/>
              </a:spcBef>
              <a:spcAft>
                <a:spcPts val="1200"/>
              </a:spcAft>
              <a:buNone/>
            </a:pPr>
            <a:r>
              <a:rPr b="1" lang="fr" sz="1000">
                <a:solidFill>
                  <a:srgbClr val="111111"/>
                </a:solidFill>
                <a:highlight>
                  <a:srgbClr val="FFFFFF"/>
                </a:highlight>
              </a:rPr>
              <a:t>On peut ajouter l’affiche pour que la page soit pas trop vide</a:t>
            </a:r>
            <a:endParaRPr b="1"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175362" y="791156"/>
            <a:ext cx="4793700" cy="101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Contats</a:t>
            </a:r>
            <a:endParaRPr/>
          </a:p>
        </p:txBody>
      </p:sp>
      <p:sp>
        <p:nvSpPr>
          <p:cNvPr id="93" name="Google Shape;93;p18"/>
          <p:cNvSpPr txBox="1"/>
          <p:nvPr>
            <p:ph idx="1" type="body"/>
          </p:nvPr>
        </p:nvSpPr>
        <p:spPr>
          <a:xfrm>
            <a:off x="175362" y="2048844"/>
            <a:ext cx="4793700" cy="607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fr" sz="1000">
                <a:solidFill>
                  <a:srgbClr val="111111"/>
                </a:solidFill>
                <a:highlight>
                  <a:srgbClr val="FFFFFF"/>
                </a:highlight>
              </a:rPr>
              <a:t>Distribution</a:t>
            </a:r>
            <a:endParaRPr b="1" sz="1000">
              <a:solidFill>
                <a:srgbClr val="111111"/>
              </a:solidFill>
              <a:highlight>
                <a:srgbClr val="FFFFFF"/>
              </a:highlight>
            </a:endParaRPr>
          </a:p>
          <a:p>
            <a:pPr indent="0" lvl="0" marL="0" rtl="0" algn="l">
              <a:spcBef>
                <a:spcPts val="2400"/>
              </a:spcBef>
              <a:spcAft>
                <a:spcPts val="0"/>
              </a:spcAft>
              <a:buClr>
                <a:schemeClr val="dk1"/>
              </a:buClr>
              <a:buSzPts val="1100"/>
              <a:buFont typeface="Arial"/>
              <a:buNone/>
            </a:pPr>
            <a:r>
              <a:rPr lang="fr" sz="1000">
                <a:solidFill>
                  <a:srgbClr val="111111"/>
                </a:solidFill>
                <a:highlight>
                  <a:srgbClr val="FFFFFF"/>
                </a:highlight>
              </a:rPr>
              <a:t>Miyu Distribution + contact mail et tel</a:t>
            </a:r>
            <a:endParaRPr sz="1000">
              <a:solidFill>
                <a:srgbClr val="23883D"/>
              </a:solidFill>
              <a:highlight>
                <a:srgbClr val="FFFFFF"/>
              </a:highlight>
            </a:endParaRPr>
          </a:p>
          <a:p>
            <a:pPr indent="0" lvl="0" marL="0" rtl="0" algn="l">
              <a:spcBef>
                <a:spcPts val="2400"/>
              </a:spcBef>
              <a:spcAft>
                <a:spcPts val="0"/>
              </a:spcAft>
              <a:buClr>
                <a:schemeClr val="dk1"/>
              </a:buClr>
              <a:buSzPts val="1100"/>
              <a:buFont typeface="Arial"/>
              <a:buNone/>
            </a:pPr>
            <a:r>
              <a:rPr b="1" lang="fr" sz="1000">
                <a:solidFill>
                  <a:srgbClr val="111111"/>
                </a:solidFill>
                <a:highlight>
                  <a:srgbClr val="FFFFFF"/>
                </a:highlight>
              </a:rPr>
              <a:t>Programmation</a:t>
            </a:r>
            <a:endParaRPr b="1" sz="1000">
              <a:solidFill>
                <a:srgbClr val="111111"/>
              </a:solidFill>
              <a:highlight>
                <a:srgbClr val="FFFFFF"/>
              </a:highlight>
            </a:endParaRPr>
          </a:p>
          <a:p>
            <a:pPr indent="0" lvl="0" marL="0" rtl="0" algn="l">
              <a:spcBef>
                <a:spcPts val="2400"/>
              </a:spcBef>
              <a:spcAft>
                <a:spcPts val="0"/>
              </a:spcAft>
              <a:buClr>
                <a:schemeClr val="dk1"/>
              </a:buClr>
              <a:buSzPts val="1100"/>
              <a:buFont typeface="Arial"/>
              <a:buNone/>
            </a:pPr>
            <a:r>
              <a:rPr lang="fr" sz="1000">
                <a:solidFill>
                  <a:srgbClr val="111111"/>
                </a:solidFill>
                <a:highlight>
                  <a:srgbClr val="FFFFFF"/>
                </a:highlight>
              </a:rPr>
              <a:t>nom du responsable + mail et tel</a:t>
            </a:r>
            <a:endParaRPr sz="1000">
              <a:solidFill>
                <a:srgbClr val="23883D"/>
              </a:solidFill>
              <a:highlight>
                <a:srgbClr val="FFFFFF"/>
              </a:highlight>
            </a:endParaRPr>
          </a:p>
          <a:p>
            <a:pPr indent="0" lvl="0" marL="0" rtl="0" algn="l">
              <a:spcBef>
                <a:spcPts val="2400"/>
              </a:spcBef>
              <a:spcAft>
                <a:spcPts val="0"/>
              </a:spcAft>
              <a:buClr>
                <a:schemeClr val="dk1"/>
              </a:buClr>
              <a:buSzPts val="1100"/>
              <a:buFont typeface="Arial"/>
              <a:buNone/>
            </a:pPr>
            <a:r>
              <a:rPr b="1" lang="fr" sz="1000">
                <a:solidFill>
                  <a:srgbClr val="111111"/>
                </a:solidFill>
                <a:highlight>
                  <a:srgbClr val="FFFFFF"/>
                </a:highlight>
              </a:rPr>
              <a:t>Relations presse</a:t>
            </a:r>
            <a:endParaRPr b="1" sz="1000">
              <a:solidFill>
                <a:srgbClr val="111111"/>
              </a:solidFill>
              <a:highlight>
                <a:srgbClr val="FFFFFF"/>
              </a:highlight>
            </a:endParaRPr>
          </a:p>
          <a:p>
            <a:pPr indent="0" lvl="0" marL="0" rtl="0" algn="l">
              <a:spcBef>
                <a:spcPts val="2400"/>
              </a:spcBef>
              <a:spcAft>
                <a:spcPts val="0"/>
              </a:spcAft>
              <a:buClr>
                <a:schemeClr val="dk1"/>
              </a:buClr>
              <a:buSzPts val="1100"/>
              <a:buFont typeface="Arial"/>
              <a:buNone/>
            </a:pPr>
            <a:r>
              <a:rPr lang="fr" sz="1000">
                <a:solidFill>
                  <a:srgbClr val="111111"/>
                </a:solidFill>
                <a:highlight>
                  <a:srgbClr val="FFFFFF"/>
                </a:highlight>
              </a:rPr>
              <a:t>nom du responsable + mail et tel</a:t>
            </a:r>
            <a:endParaRPr sz="1000">
              <a:solidFill>
                <a:srgbClr val="23883D"/>
              </a:solidFill>
              <a:highlight>
                <a:srgbClr val="FFFFFF"/>
              </a:highlight>
            </a:endParaRPr>
          </a:p>
          <a:p>
            <a:pPr indent="0" lvl="0" marL="0" rtl="0" algn="l">
              <a:spcBef>
                <a:spcPts val="24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175362" y="791156"/>
            <a:ext cx="4793700" cy="101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Miyu</a:t>
            </a:r>
            <a:endParaRPr/>
          </a:p>
        </p:txBody>
      </p:sp>
      <p:sp>
        <p:nvSpPr>
          <p:cNvPr id="99" name="Google Shape;99;p19"/>
          <p:cNvSpPr txBox="1"/>
          <p:nvPr>
            <p:ph idx="1" type="body"/>
          </p:nvPr>
        </p:nvSpPr>
        <p:spPr>
          <a:xfrm>
            <a:off x="175362" y="2048844"/>
            <a:ext cx="4793700" cy="60735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Clr>
                <a:schemeClr val="dk1"/>
              </a:buClr>
              <a:buSzPct val="62857"/>
              <a:buFont typeface="Arial"/>
              <a:buNone/>
            </a:pPr>
            <a:r>
              <a:rPr lang="fr" sz="1750">
                <a:solidFill>
                  <a:schemeClr val="dk1"/>
                </a:solidFill>
                <a:highlight>
                  <a:srgbClr val="FFFFFF"/>
                </a:highlight>
              </a:rPr>
              <a:t>Né de l’association entre Luce Grosjean et Miyu Productions en 2017, Miyu Distribution est spécialisé dans les ventes internationales et la diffusion de films d’animation. La société distribue un large catalogue de courts métrages de sociétés de production et de réalisateur.ice.s indépendant.e.s, ainsi que les films de fin d’études de grandes écoles d’animation.</a:t>
            </a:r>
            <a:endParaRPr sz="1750">
              <a:solidFill>
                <a:schemeClr val="dk1"/>
              </a:solidFill>
              <a:highlight>
                <a:srgbClr val="FFFFFF"/>
              </a:highlight>
            </a:endParaRPr>
          </a:p>
          <a:p>
            <a:pPr indent="0" lvl="0" marL="0" rtl="0" algn="l">
              <a:spcBef>
                <a:spcPts val="1900"/>
              </a:spcBef>
              <a:spcAft>
                <a:spcPts val="0"/>
              </a:spcAft>
              <a:buClr>
                <a:schemeClr val="dk1"/>
              </a:buClr>
              <a:buSzPct val="62857"/>
              <a:buFont typeface="Arial"/>
              <a:buNone/>
            </a:pPr>
            <a:r>
              <a:rPr lang="fr" sz="1750">
                <a:solidFill>
                  <a:schemeClr val="dk1"/>
                </a:solidFill>
                <a:highlight>
                  <a:srgbClr val="FFFFFF"/>
                </a:highlight>
              </a:rPr>
              <a:t>Avec 10 nominations aux Oscars, 2 victoires aux César – </a:t>
            </a:r>
            <a:r>
              <a:rPr lang="fr" sz="1750" u="sng">
                <a:solidFill>
                  <a:schemeClr val="dk1"/>
                </a:solidFill>
                <a:highlight>
                  <a:srgbClr val="FFFFFF"/>
                </a:highlight>
                <a:hlinkClick r:id="rId3">
                  <a:extLst>
                    <a:ext uri="{A12FA001-AC4F-418D-AE19-62706E023703}">
                      <ahyp:hlinkClr val="tx"/>
                    </a:ext>
                  </a:extLst>
                </a:hlinkClick>
              </a:rPr>
              <a:t>Eté 96</a:t>
            </a:r>
            <a:r>
              <a:rPr lang="fr" sz="1750">
                <a:solidFill>
                  <a:schemeClr val="dk1"/>
                </a:solidFill>
                <a:highlight>
                  <a:srgbClr val="FFFFFF"/>
                </a:highlight>
              </a:rPr>
              <a:t> de Mathilde Bédouet (2024) et </a:t>
            </a:r>
            <a:r>
              <a:rPr lang="fr" sz="1750" u="sng">
                <a:solidFill>
                  <a:schemeClr val="dk1"/>
                </a:solidFill>
                <a:highlight>
                  <a:srgbClr val="FFFFFF"/>
                </a:highlight>
                <a:hlinkClick r:id="rId4">
                  <a:extLst>
                    <a:ext uri="{A12FA001-AC4F-418D-AE19-62706E023703}">
                      <ahyp:hlinkClr val="tx"/>
                    </a:ext>
                  </a:extLst>
                </a:hlinkClick>
              </a:rPr>
              <a:t>Beurk !</a:t>
            </a:r>
            <a:r>
              <a:rPr lang="fr" sz="1750">
                <a:solidFill>
                  <a:schemeClr val="dk1"/>
                </a:solidFill>
                <a:highlight>
                  <a:srgbClr val="FFFFFF"/>
                </a:highlight>
              </a:rPr>
              <a:t> de Loïc Espuche (2025) -, une Palme d’or et un Cristal du court-métrage pour </a:t>
            </a:r>
            <a:r>
              <a:rPr lang="fr" sz="1750" u="sng">
                <a:solidFill>
                  <a:schemeClr val="dk1"/>
                </a:solidFill>
                <a:highlight>
                  <a:srgbClr val="FFFFFF"/>
                </a:highlight>
                <a:hlinkClick r:id="rId5">
                  <a:extLst>
                    <a:ext uri="{A12FA001-AC4F-418D-AE19-62706E023703}">
                      <ahyp:hlinkClr val="tx"/>
                    </a:ext>
                  </a:extLst>
                </a:hlinkClick>
              </a:rPr>
              <a:t>27</a:t>
            </a:r>
            <a:r>
              <a:rPr lang="fr" sz="1750">
                <a:solidFill>
                  <a:schemeClr val="dk1"/>
                </a:solidFill>
                <a:highlight>
                  <a:srgbClr val="FFFFFF"/>
                </a:highlight>
              </a:rPr>
              <a:t> de Flora Anna Buda (2023) ainsi que deux prix de la meilleure société de distribution remis par UniFrance et la Fête du court-métrage (2021, 2024), Miyu Distribution s’impose comme le leader de son secteur.</a:t>
            </a:r>
            <a:endParaRPr sz="1750">
              <a:solidFill>
                <a:schemeClr val="dk1"/>
              </a:solidFill>
              <a:highlight>
                <a:srgbClr val="FFFFFF"/>
              </a:highlight>
            </a:endParaRPr>
          </a:p>
          <a:p>
            <a:pPr indent="0" lvl="0" marL="0" rtl="0" algn="l">
              <a:spcBef>
                <a:spcPts val="1900"/>
              </a:spcBef>
              <a:spcAft>
                <a:spcPts val="0"/>
              </a:spcAft>
              <a:buClr>
                <a:schemeClr val="dk1"/>
              </a:buClr>
              <a:buSzPct val="62857"/>
              <a:buFont typeface="Arial"/>
              <a:buNone/>
            </a:pPr>
            <a:r>
              <a:rPr lang="fr" sz="1750">
                <a:solidFill>
                  <a:schemeClr val="dk1"/>
                </a:solidFill>
                <a:highlight>
                  <a:srgbClr val="FFFFFF"/>
                </a:highlight>
              </a:rPr>
              <a:t>Depuis 2021, Miyu Distribution assure également la vente internationale de longs métrages. Elle a notamment à son catalogue </a:t>
            </a:r>
            <a:r>
              <a:rPr lang="fr" sz="1750" u="sng">
                <a:solidFill>
                  <a:schemeClr val="dk1"/>
                </a:solidFill>
                <a:highlight>
                  <a:srgbClr val="FFFFFF"/>
                </a:highlight>
                <a:hlinkClick r:id="rId6">
                  <a:extLst>
                    <a:ext uri="{A12FA001-AC4F-418D-AE19-62706E023703}">
                      <ahyp:hlinkClr val="tx"/>
                    </a:ext>
                  </a:extLst>
                </a:hlinkClick>
              </a:rPr>
              <a:t>Archipel</a:t>
            </a:r>
            <a:r>
              <a:rPr lang="fr" sz="1750">
                <a:solidFill>
                  <a:schemeClr val="dk1"/>
                </a:solidFill>
                <a:highlight>
                  <a:srgbClr val="FFFFFF"/>
                </a:highlight>
              </a:rPr>
              <a:t> de Félix Dufour-Laperrière (Rotterdam, Annecy) et </a:t>
            </a:r>
            <a:r>
              <a:rPr lang="fr" sz="1750" u="sng">
                <a:solidFill>
                  <a:schemeClr val="dk1"/>
                </a:solidFill>
                <a:highlight>
                  <a:srgbClr val="FFFFFF"/>
                </a:highlight>
                <a:hlinkClick r:id="rId7">
                  <a:extLst>
                    <a:ext uri="{A12FA001-AC4F-418D-AE19-62706E023703}">
                      <ahyp:hlinkClr val="tx"/>
                    </a:ext>
                  </a:extLst>
                </a:hlinkClick>
              </a:rPr>
              <a:t>Pléthores de Nords</a:t>
            </a:r>
            <a:r>
              <a:rPr lang="fr" sz="1750">
                <a:solidFill>
                  <a:schemeClr val="dk1"/>
                </a:solidFill>
                <a:highlight>
                  <a:srgbClr val="FFFFFF"/>
                </a:highlight>
              </a:rPr>
              <a:t>, de Koji Yamamura (Prix Contrechamps du Festival d’Annecy). En 2025, la société acquiert les droits de </a:t>
            </a:r>
            <a:r>
              <a:rPr lang="fr" sz="1750" u="sng">
                <a:solidFill>
                  <a:schemeClr val="dk1"/>
                </a:solidFill>
                <a:highlight>
                  <a:srgbClr val="FFFFFF"/>
                </a:highlight>
                <a:hlinkClick r:id="rId8">
                  <a:extLst>
                    <a:ext uri="{A12FA001-AC4F-418D-AE19-62706E023703}">
                      <ahyp:hlinkClr val="tx"/>
                    </a:ext>
                  </a:extLst>
                </a:hlinkClick>
              </a:rPr>
              <a:t>La gran historia de la filosofía occidental</a:t>
            </a:r>
            <a:r>
              <a:rPr lang="fr" sz="1750">
                <a:solidFill>
                  <a:schemeClr val="dk1"/>
                </a:solidFill>
                <a:highlight>
                  <a:srgbClr val="FFFFFF"/>
                </a:highlight>
              </a:rPr>
              <a:t> de Aria Covanomas, sélectionné à Rotterdam et de </a:t>
            </a:r>
            <a:r>
              <a:rPr lang="fr" sz="1750" u="sng">
                <a:solidFill>
                  <a:schemeClr val="dk1"/>
                </a:solidFill>
                <a:highlight>
                  <a:srgbClr val="FFFFFF"/>
                </a:highlight>
                <a:hlinkClick r:id="rId9">
                  <a:extLst>
                    <a:ext uri="{A12FA001-AC4F-418D-AE19-62706E023703}">
                      <ahyp:hlinkClr val="tx"/>
                    </a:ext>
                  </a:extLst>
                </a:hlinkClick>
              </a:rPr>
              <a:t>Olivia &amp; Las Nubes</a:t>
            </a:r>
            <a:r>
              <a:rPr lang="fr" sz="1750">
                <a:solidFill>
                  <a:schemeClr val="dk1"/>
                </a:solidFill>
                <a:highlight>
                  <a:srgbClr val="FFFFFF"/>
                </a:highlight>
              </a:rPr>
              <a:t> de Tomas Pichardo Espaillat, primé à Locarno.</a:t>
            </a:r>
            <a:endParaRPr sz="1750">
              <a:solidFill>
                <a:schemeClr val="dk1"/>
              </a:solidFill>
              <a:highlight>
                <a:srgbClr val="FFFFFF"/>
              </a:highlight>
            </a:endParaRPr>
          </a:p>
          <a:p>
            <a:pPr indent="0" lvl="0" marL="0" rtl="0" algn="l">
              <a:spcBef>
                <a:spcPts val="1900"/>
              </a:spcBef>
              <a:spcAft>
                <a:spcPts val="0"/>
              </a:spcAft>
              <a:buNone/>
            </a:pPr>
            <a:r>
              <a:t/>
            </a:r>
            <a:endParaRPr/>
          </a:p>
          <a:p>
            <a:pPr indent="0" lvl="0" marL="0" rtl="0" algn="l">
              <a:spcBef>
                <a:spcPts val="1200"/>
              </a:spcBef>
              <a:spcAft>
                <a:spcPts val="0"/>
              </a:spcAft>
              <a:buNone/>
            </a:pPr>
            <a:r>
              <a:rPr lang="fr"/>
              <a:t>bang bang et site web </a:t>
            </a:r>
            <a:endParaRPr/>
          </a:p>
          <a:p>
            <a:pPr indent="0" lvl="0" marL="0" rtl="0" algn="l">
              <a:spcBef>
                <a:spcPts val="1200"/>
              </a:spcBef>
              <a:spcAft>
                <a:spcPts val="1200"/>
              </a:spcAft>
              <a:buNone/>
            </a:pPr>
            <a:r>
              <a:t/>
            </a:r>
            <a:endParaRPr/>
          </a:p>
        </p:txBody>
      </p:sp>
      <p:sp>
        <p:nvSpPr>
          <p:cNvPr id="100" name="Google Shape;100;p19"/>
          <p:cNvSpPr txBox="1"/>
          <p:nvPr/>
        </p:nvSpPr>
        <p:spPr>
          <a:xfrm>
            <a:off x="4206345" y="8572167"/>
            <a:ext cx="556500" cy="249000"/>
          </a:xfrm>
          <a:prstGeom prst="rect">
            <a:avLst/>
          </a:prstGeom>
          <a:noFill/>
          <a:ln cap="flat" cmpd="sng" w="9525">
            <a:solidFill>
              <a:schemeClr val="dk1"/>
            </a:solidFill>
            <a:prstDash val="solid"/>
            <a:round/>
            <a:headEnd len="sm" w="sm" type="none"/>
            <a:tailEnd len="sm" w="sm" type="none"/>
          </a:ln>
        </p:spPr>
        <p:txBody>
          <a:bodyPr anchorCtr="0" anchor="t" bIns="70450" lIns="70450" spcFirstLastPara="1" rIns="70450" wrap="square" tIns="70450">
            <a:spAutoFit/>
          </a:bodyPr>
          <a:lstStyle/>
          <a:p>
            <a:pPr indent="0" lvl="0" marL="0" rtl="0" algn="l">
              <a:spcBef>
                <a:spcPts val="0"/>
              </a:spcBef>
              <a:spcAft>
                <a:spcPts val="0"/>
              </a:spcAft>
              <a:buNone/>
            </a:pPr>
            <a:r>
              <a:rPr lang="fr" sz="693"/>
              <a:t>playlist :)</a:t>
            </a:r>
            <a:endParaRPr sz="693"/>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